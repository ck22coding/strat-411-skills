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38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AF6-41D4-9FD0-57FA103CCD2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AF6-41D4-9FD0-57FA103CCD2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numFmt formatCode="#,##0.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AF6-41D4-9FD0-57FA103CCD2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96083184"/>
        <c:axId val="496074328"/>
      </c:barChart>
      <c:catAx>
        <c:axId val="4960831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96074328"/>
        <c:crosses val="autoZero"/>
        <c:auto val="1"/>
        <c:lblAlgn val="ctr"/>
        <c:lblOffset val="100"/>
        <c:noMultiLvlLbl val="0"/>
      </c:catAx>
      <c:valAx>
        <c:axId val="4960743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960831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9987021912610884"/>
          <c:y val="0.90823556907860958"/>
          <c:w val="0.38757609042482805"/>
          <c:h val="7.095926556128076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67" indent="0" algn="ctr">
              <a:buNone/>
              <a:defRPr sz="2000"/>
            </a:lvl2pPr>
            <a:lvl3pPr marL="914332" indent="0" algn="ctr">
              <a:buNone/>
              <a:defRPr sz="1800"/>
            </a:lvl3pPr>
            <a:lvl4pPr marL="1371498" indent="0" algn="ctr">
              <a:buNone/>
              <a:defRPr sz="1600"/>
            </a:lvl4pPr>
            <a:lvl5pPr marL="1828664" indent="0" algn="ctr">
              <a:buNone/>
              <a:defRPr sz="1600"/>
            </a:lvl5pPr>
            <a:lvl6pPr marL="2285830" indent="0" algn="ctr">
              <a:buNone/>
              <a:defRPr sz="1600"/>
            </a:lvl6pPr>
            <a:lvl7pPr marL="2742994" indent="0" algn="ctr">
              <a:buNone/>
              <a:defRPr sz="1600"/>
            </a:lvl7pPr>
            <a:lvl8pPr marL="3200160" indent="0" algn="ctr">
              <a:buNone/>
              <a:defRPr sz="1600"/>
            </a:lvl8pPr>
            <a:lvl9pPr marL="3657327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513DD-1DFD-417D-BC48-C3D05696B6D2}" type="datetimeFigureOut">
              <a:rPr lang="en-US" smtClean="0"/>
              <a:t>1/27/2021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0A98E-8A10-4E47-85C5-B6CD5B03E5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6427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513DD-1DFD-417D-BC48-C3D05696B6D2}" type="datetimeFigureOut">
              <a:rPr lang="en-US" smtClean="0"/>
              <a:t>1/27/2021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0A98E-8A10-4E47-85C5-B6CD5B03E5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5008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6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71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67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3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49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66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3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299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16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32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513DD-1DFD-417D-BC48-C3D05696B6D2}" type="datetimeFigureOut">
              <a:rPr lang="en-US" smtClean="0"/>
              <a:t>1/27/2021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0A98E-8A10-4E47-85C5-B6CD5B03E5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7511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513DD-1DFD-417D-BC48-C3D05696B6D2}" type="datetimeFigureOut">
              <a:rPr lang="en-US" smtClean="0"/>
              <a:t>1/27/2021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0A98E-8A10-4E47-85C5-B6CD5B03E5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3551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9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67" indent="0">
              <a:buNone/>
              <a:defRPr sz="2000" b="1"/>
            </a:lvl2pPr>
            <a:lvl3pPr marL="914332" indent="0">
              <a:buNone/>
              <a:defRPr sz="1800" b="1"/>
            </a:lvl3pPr>
            <a:lvl4pPr marL="1371498" indent="0">
              <a:buNone/>
              <a:defRPr sz="1600" b="1"/>
            </a:lvl4pPr>
            <a:lvl5pPr marL="1828664" indent="0">
              <a:buNone/>
              <a:defRPr sz="1600" b="1"/>
            </a:lvl5pPr>
            <a:lvl6pPr marL="2285830" indent="0">
              <a:buNone/>
              <a:defRPr sz="1600" b="1"/>
            </a:lvl6pPr>
            <a:lvl7pPr marL="2742994" indent="0">
              <a:buNone/>
              <a:defRPr sz="1600" b="1"/>
            </a:lvl7pPr>
            <a:lvl8pPr marL="3200160" indent="0">
              <a:buNone/>
              <a:defRPr sz="1600" b="1"/>
            </a:lvl8pPr>
            <a:lvl9pPr marL="3657327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3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67" indent="0">
              <a:buNone/>
              <a:defRPr sz="2000" b="1"/>
            </a:lvl2pPr>
            <a:lvl3pPr marL="914332" indent="0">
              <a:buNone/>
              <a:defRPr sz="1800" b="1"/>
            </a:lvl3pPr>
            <a:lvl4pPr marL="1371498" indent="0">
              <a:buNone/>
              <a:defRPr sz="1600" b="1"/>
            </a:lvl4pPr>
            <a:lvl5pPr marL="1828664" indent="0">
              <a:buNone/>
              <a:defRPr sz="1600" b="1"/>
            </a:lvl5pPr>
            <a:lvl6pPr marL="2285830" indent="0">
              <a:buNone/>
              <a:defRPr sz="1600" b="1"/>
            </a:lvl6pPr>
            <a:lvl7pPr marL="2742994" indent="0">
              <a:buNone/>
              <a:defRPr sz="1600" b="1"/>
            </a:lvl7pPr>
            <a:lvl8pPr marL="3200160" indent="0">
              <a:buNone/>
              <a:defRPr sz="1600" b="1"/>
            </a:lvl8pPr>
            <a:lvl9pPr marL="3657327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3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513DD-1DFD-417D-BC48-C3D05696B6D2}" type="datetimeFigureOut">
              <a:rPr lang="en-US" smtClean="0"/>
              <a:t>1/27/2021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0A98E-8A10-4E47-85C5-B6CD5B03E5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0558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513DD-1DFD-417D-BC48-C3D05696B6D2}" type="datetimeFigureOut">
              <a:rPr lang="en-US" smtClean="0"/>
              <a:t>1/27/2021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0A98E-8A10-4E47-85C5-B6CD5B03E5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2129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513DD-1DFD-417D-BC48-C3D05696B6D2}" type="datetimeFigureOut">
              <a:rPr lang="en-US" smtClean="0"/>
              <a:t>1/27/2021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0A98E-8A10-4E47-85C5-B6CD5B03E5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7848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33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67" indent="0">
              <a:buNone/>
              <a:defRPr sz="1400"/>
            </a:lvl2pPr>
            <a:lvl3pPr marL="914332" indent="0">
              <a:buNone/>
              <a:defRPr sz="1200"/>
            </a:lvl3pPr>
            <a:lvl4pPr marL="1371498" indent="0">
              <a:buNone/>
              <a:defRPr sz="1000"/>
            </a:lvl4pPr>
            <a:lvl5pPr marL="1828664" indent="0">
              <a:buNone/>
              <a:defRPr sz="1000"/>
            </a:lvl5pPr>
            <a:lvl6pPr marL="2285830" indent="0">
              <a:buNone/>
              <a:defRPr sz="1000"/>
            </a:lvl6pPr>
            <a:lvl7pPr marL="2742994" indent="0">
              <a:buNone/>
              <a:defRPr sz="1000"/>
            </a:lvl7pPr>
            <a:lvl8pPr marL="3200160" indent="0">
              <a:buNone/>
              <a:defRPr sz="1000"/>
            </a:lvl8pPr>
            <a:lvl9pPr marL="3657327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513DD-1DFD-417D-BC48-C3D05696B6D2}" type="datetimeFigureOut">
              <a:rPr lang="en-US" smtClean="0"/>
              <a:t>1/27/2021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0A98E-8A10-4E47-85C5-B6CD5B03E5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5160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33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67" indent="0">
              <a:buNone/>
              <a:defRPr sz="2800"/>
            </a:lvl2pPr>
            <a:lvl3pPr marL="914332" indent="0">
              <a:buNone/>
              <a:defRPr sz="2400"/>
            </a:lvl3pPr>
            <a:lvl4pPr marL="1371498" indent="0">
              <a:buNone/>
              <a:defRPr sz="2000"/>
            </a:lvl4pPr>
            <a:lvl5pPr marL="1828664" indent="0">
              <a:buNone/>
              <a:defRPr sz="2000"/>
            </a:lvl5pPr>
            <a:lvl6pPr marL="2285830" indent="0">
              <a:buNone/>
              <a:defRPr sz="2000"/>
            </a:lvl6pPr>
            <a:lvl7pPr marL="2742994" indent="0">
              <a:buNone/>
              <a:defRPr sz="2000"/>
            </a:lvl7pPr>
            <a:lvl8pPr marL="3200160" indent="0">
              <a:buNone/>
              <a:defRPr sz="2000"/>
            </a:lvl8pPr>
            <a:lvl9pPr marL="3657327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67" indent="0">
              <a:buNone/>
              <a:defRPr sz="1400"/>
            </a:lvl2pPr>
            <a:lvl3pPr marL="914332" indent="0">
              <a:buNone/>
              <a:defRPr sz="1200"/>
            </a:lvl3pPr>
            <a:lvl4pPr marL="1371498" indent="0">
              <a:buNone/>
              <a:defRPr sz="1000"/>
            </a:lvl4pPr>
            <a:lvl5pPr marL="1828664" indent="0">
              <a:buNone/>
              <a:defRPr sz="1000"/>
            </a:lvl5pPr>
            <a:lvl6pPr marL="2285830" indent="0">
              <a:buNone/>
              <a:defRPr sz="1000"/>
            </a:lvl6pPr>
            <a:lvl7pPr marL="2742994" indent="0">
              <a:buNone/>
              <a:defRPr sz="1000"/>
            </a:lvl7pPr>
            <a:lvl8pPr marL="3200160" indent="0">
              <a:buNone/>
              <a:defRPr sz="1000"/>
            </a:lvl8pPr>
            <a:lvl9pPr marL="3657327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513DD-1DFD-417D-BC48-C3D05696B6D2}" type="datetimeFigureOut">
              <a:rPr lang="en-US" smtClean="0"/>
              <a:t>1/27/2021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0A98E-8A10-4E47-85C5-B6CD5B03E5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5112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513DD-1DFD-417D-BC48-C3D05696B6D2}" type="datetimeFigureOut">
              <a:rPr lang="en-US" smtClean="0"/>
              <a:t>1/27/2021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0A98E-8A10-4E47-85C5-B6CD5B03E5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0608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2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3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513DD-1DFD-417D-BC48-C3D05696B6D2}" type="datetimeFigureOut">
              <a:rPr lang="en-US" smtClean="0"/>
              <a:t>1/27/2021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0A98E-8A10-4E47-85C5-B6CD5B03E5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3793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3513DD-1DFD-417D-BC48-C3D05696B6D2}" type="datetimeFigureOut">
              <a:rPr lang="en-US" smtClean="0"/>
              <a:t>1/27/2021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8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D0A98E-8A10-4E47-85C5-B6CD5B03E5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2905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32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4" indent="-228584" algn="l" defTabSz="914332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5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14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8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47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12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78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744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91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7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32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98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64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3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94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6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27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53684" y="172531"/>
            <a:ext cx="1042070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Each slide should have a lead line that is a statement of the key point or take away of a 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3683" y="6342993"/>
            <a:ext cx="66164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1. </a:t>
            </a:r>
            <a:r>
              <a:rPr lang="en-US" sz="1100" dirty="0"/>
              <a:t>Most slides have footnotes to describe key assumptions of data analyses or to provide other </a:t>
            </a:r>
            <a:r>
              <a:rPr lang="en-US" sz="1100" dirty="0" smtClean="0"/>
              <a:t>details</a:t>
            </a:r>
            <a:endParaRPr lang="en-US" sz="1100" dirty="0"/>
          </a:p>
        </p:txBody>
      </p:sp>
      <p:sp>
        <p:nvSpPr>
          <p:cNvPr id="6" name="TextBox 5"/>
          <p:cNvSpPr txBox="1"/>
          <p:nvPr/>
        </p:nvSpPr>
        <p:spPr>
          <a:xfrm>
            <a:off x="353683" y="6550270"/>
            <a:ext cx="73152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Source: Identify the source of your material if from external</a:t>
            </a:r>
          </a:p>
        </p:txBody>
      </p:sp>
      <p:graphicFrame>
        <p:nvGraphicFramePr>
          <p:cNvPr id="9" name="Chart 8"/>
          <p:cNvGraphicFramePr/>
          <p:nvPr>
            <p:extLst>
              <p:ext uri="{D42A27DB-BD31-4B8C-83A1-F6EECF244321}">
                <p14:modId xmlns:p14="http://schemas.microsoft.com/office/powerpoint/2010/main" val="2898202901"/>
              </p:ext>
            </p:extLst>
          </p:nvPr>
        </p:nvGraphicFramePr>
        <p:xfrm>
          <a:off x="807049" y="2057189"/>
          <a:ext cx="6007819" cy="36625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927821" y="1472418"/>
            <a:ext cx="44550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Usually graphs will have titles with direct descriptions of content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5949" y="2133675"/>
            <a:ext cx="6211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Axis label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84219" y="2133679"/>
            <a:ext cx="3968151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30" indent="-28573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Provide clarifying points or more elaborate explanations in dot point lists </a:t>
            </a:r>
          </a:p>
          <a:p>
            <a:pPr marL="285730" indent="-28573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Refer to this section as “key implications,” “key takeaways,” or other similar titles</a:t>
            </a:r>
          </a:p>
          <a:p>
            <a:pPr marL="285730" indent="-28573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Provide enough text to explain but not so much that the slide becomes cluttered</a:t>
            </a:r>
          </a:p>
          <a:p>
            <a:pPr marL="285730" indent="-28573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On graphs, label axes, format numbers, and be sure that key points are clear; you may want to annotate for further clarity</a:t>
            </a:r>
          </a:p>
          <a:p>
            <a:pPr marL="285730" indent="-28573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Use a legend or, even better, label parts of graph directly to provide ease for the reader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61857" y="1555404"/>
            <a:ext cx="44550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Additional </a:t>
            </a:r>
            <a:r>
              <a:rPr lang="en-US" sz="1600" dirty="0"/>
              <a:t>Points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601450" y="6342993"/>
            <a:ext cx="3154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1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730118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29</TotalTime>
  <Words>152</Words>
  <Application>Microsoft Office PowerPoint</Application>
  <PresentationFormat>Widescreen</PresentationFormat>
  <Paragraphs>12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>Brigham Young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David Bryce</dc:creator>
  <cp:lastModifiedBy>David Bryce</cp:lastModifiedBy>
  <cp:revision>6</cp:revision>
  <dcterms:created xsi:type="dcterms:W3CDTF">2021-01-28T04:23:36Z</dcterms:created>
  <dcterms:modified xsi:type="dcterms:W3CDTF">2021-01-28T04:53:12Z</dcterms:modified>
</cp:coreProperties>
</file>